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64" r:id="rId2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4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jp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6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7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16.xml"/><Relationship Id="rId7" Type="http://schemas.openxmlformats.org/officeDocument/2006/relationships/image" Target="../media/image8.sv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oleObject" Target="../embeddings/oleObject12.bin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4.sv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3.jpg"/><Relationship Id="rId5" Type="http://schemas.openxmlformats.org/officeDocument/2006/relationships/tags" Target="../tags/tag1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6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0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0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0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59.xml"/><Relationship Id="rId7" Type="http://schemas.openxmlformats.org/officeDocument/2006/relationships/image" Target="../media/image8.sv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0.xml"/><Relationship Id="rId9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altLang="zh-CN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altLang="zh-CN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altLang="zh-CN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altLang="zh-CN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sv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9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1.xml"/><Relationship Id="rId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3.xml"/><Relationship Id="rId1" Type="http://schemas.openxmlformats.org/officeDocument/2006/relationships/tags" Target="../tags/tag26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6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6.x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7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E830F6A-A6BB-309C-BABA-64BA7EE30E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616541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42D5E2-68C4-F4F5-0D5D-50BA3074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zh-CN" dirty="0"/>
              <a:t>4 phase approach</a:t>
            </a:r>
            <a:endParaRPr kumimoji="1"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4CE37-B23B-F833-0842-0CB0CB46A8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396271-F8FC-A1A2-759F-D29BB6A6F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E48ECA-B393-1340-5CC5-9AB665ED38E8}"/>
              </a:ext>
            </a:extLst>
          </p:cNvPr>
          <p:cNvSpPr txBox="1"/>
          <p:nvPr/>
        </p:nvSpPr>
        <p:spPr>
          <a:xfrm>
            <a:off x="554736" y="1656127"/>
            <a:ext cx="2775766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I: Ideate and impact sizing</a:t>
            </a:r>
            <a:endParaRPr lang="zh-CN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FCF94-C1EC-F16A-926A-92AB1481AC55}"/>
              </a:ext>
            </a:extLst>
          </p:cNvPr>
          <p:cNvSpPr txBox="1"/>
          <p:nvPr/>
        </p:nvSpPr>
        <p:spPr>
          <a:xfrm>
            <a:off x="3330502" y="1655852"/>
            <a:ext cx="2775766" cy="43088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II: MVP for Prioritized agentic workflow</a:t>
            </a:r>
            <a:endParaRPr lang="zh-CN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6C5322-0C97-0294-638D-066B93210DA0}"/>
              </a:ext>
            </a:extLst>
          </p:cNvPr>
          <p:cNvSpPr txBox="1"/>
          <p:nvPr/>
        </p:nvSpPr>
        <p:spPr>
          <a:xfrm>
            <a:off x="6391160" y="1655852"/>
            <a:ext cx="2775766" cy="430887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III: Productionize and adoption of the agentic workflow</a:t>
            </a:r>
            <a:endParaRPr lang="zh-CN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9A244B-F3C4-50AD-76CA-CC7DAAAC997E}"/>
              </a:ext>
            </a:extLst>
          </p:cNvPr>
          <p:cNvSpPr txBox="1"/>
          <p:nvPr/>
        </p:nvSpPr>
        <p:spPr>
          <a:xfrm>
            <a:off x="9605736" y="1636620"/>
            <a:ext cx="2775766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IV: Roll-out at scale</a:t>
            </a:r>
            <a:endParaRPr lang="zh-CN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D7B63E-38FF-B944-9F8D-F4F59FC995BF}"/>
              </a:ext>
            </a:extLst>
          </p:cNvPr>
          <p:cNvSpPr txBox="1"/>
          <p:nvPr/>
        </p:nvSpPr>
        <p:spPr>
          <a:xfrm>
            <a:off x="-89381" y="2377615"/>
            <a:ext cx="971883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Key activities</a:t>
            </a:r>
            <a:endParaRPr lang="zh-CN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A34EC7-043D-EFE4-5734-5C9CF2E97A14}"/>
              </a:ext>
            </a:extLst>
          </p:cNvPr>
          <p:cNvSpPr txBox="1"/>
          <p:nvPr/>
        </p:nvSpPr>
        <p:spPr>
          <a:xfrm>
            <a:off x="-89381" y="4146164"/>
            <a:ext cx="97188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Output</a:t>
            </a:r>
            <a:endParaRPr lang="zh-CN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AD71C4-D842-7FF4-FE80-653F4A835667}"/>
              </a:ext>
            </a:extLst>
          </p:cNvPr>
          <p:cNvSpPr txBox="1"/>
          <p:nvPr/>
        </p:nvSpPr>
        <p:spPr>
          <a:xfrm>
            <a:off x="-89382" y="5340555"/>
            <a:ext cx="97188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Resource</a:t>
            </a:r>
            <a:endParaRPr lang="zh-CN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6A6BC2-08D4-D9FB-86A0-773FE5059A04}"/>
              </a:ext>
            </a:extLst>
          </p:cNvPr>
          <p:cNvSpPr txBox="1"/>
          <p:nvPr/>
        </p:nvSpPr>
        <p:spPr>
          <a:xfrm>
            <a:off x="-89383" y="6074201"/>
            <a:ext cx="97188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zh-CN" sz="1400" dirty="0"/>
              <a:t>Duration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5091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741957A-A813-E9E9-0390-D0B1B4AD7E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93463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F8EF15F-87B0-CA25-9506-42B48E9C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zh-CN" dirty="0"/>
              <a:t>Phase I: Data request:</a:t>
            </a:r>
            <a:endParaRPr kumimoji="1"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37B90-B679-0F98-66E6-A860991886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BAB835B-4F36-1E19-D762-B775B9A190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" name="Sticky">
            <a:extLst>
              <a:ext uri="{FF2B5EF4-FFF2-40B4-BE49-F238E27FC236}">
                <a16:creationId xmlns:a16="http://schemas.microsoft.com/office/drawing/2014/main" id="{54C36206-457D-2343-8CA1-2CB71554D07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66161" y="1415932"/>
            <a:ext cx="1905000" cy="1337178"/>
          </a:xfrm>
          <a:prstGeom prst="foldedCorner">
            <a:avLst/>
          </a:prstGeom>
          <a:solidFill>
            <a:srgbClr val="FFFF88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500" tIns="70759" rIns="63500" bIns="635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dirty="0">
                <a:solidFill>
                  <a:srgbClr val="000000"/>
                </a:solidFill>
              </a:rPr>
              <a:t>What data is required to be collected from client?</a:t>
            </a:r>
            <a:endParaRPr kumimoji="1" lang="zh-CN" altLang="en-US" sz="1600" dirty="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838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C3ED-4630-4FC2-3FD6-75362D37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235AEF6-D606-88A6-4D05-F26A3BCA46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442069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41957A-A813-E9E9-0390-D0B1B4AD7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707C6CA-E67F-D2B8-A16C-A4FAED7B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zh-CN" dirty="0"/>
              <a:t>Phase I: Typical activities and owners</a:t>
            </a:r>
            <a:endParaRPr kumimoji="1"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CC53B-F051-9763-B13B-194855F56D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06E2E6D-39E0-6922-3785-D8E2AC09C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" name="Sticky">
            <a:extLst>
              <a:ext uri="{FF2B5EF4-FFF2-40B4-BE49-F238E27FC236}">
                <a16:creationId xmlns:a16="http://schemas.microsoft.com/office/drawing/2014/main" id="{0FD2C39D-2141-1D9A-07C3-2A90333936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266161" y="1415932"/>
            <a:ext cx="1905000" cy="1337178"/>
          </a:xfrm>
          <a:prstGeom prst="foldedCorner">
            <a:avLst/>
          </a:prstGeom>
          <a:solidFill>
            <a:srgbClr val="FFFF88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3500" tIns="70759" rIns="63500" bIns="635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dirty="0">
                <a:solidFill>
                  <a:srgbClr val="000000"/>
                </a:solidFill>
              </a:rPr>
              <a:t>What data is required to be collected from client?</a:t>
            </a:r>
            <a:endParaRPr kumimoji="1" lang="zh-CN" altLang="en-US" sz="1600" dirty="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42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311B607-6CE6-A5A4-82B9-1445B77D45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54460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CFC0341-5959-F76A-EA4E-DD1733E2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zh-CN" dirty="0"/>
              <a:t>Phase I: deep-dive of each steps</a:t>
            </a:r>
            <a:endParaRPr kumimoji="1"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91500-54D0-57A6-4A8C-9188547F7D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379C2C4-B6AA-2670-221D-E50259C95C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437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31EA-94CB-AE95-ECC4-E1A81A21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B662F7D-D78F-DDF3-D481-0C5B68347E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46150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11B607-6CE6-A5A4-82B9-1445B77D45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CCD331-D2D7-93FF-E75F-2AA32944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kumimoji="1" lang="en-US" altLang="zh-CN" dirty="0"/>
              <a:t>Phase I: </a:t>
            </a:r>
            <a:r>
              <a:rPr kumimoji="1" lang="en-US" altLang="zh-CN" dirty="0" err="1"/>
              <a:t>Delvierables</a:t>
            </a:r>
            <a:endParaRPr kumimoji="1"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F018A-4A6B-32E2-CC5D-7C972A2DBE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EB10F83-A785-8C15-D970-18E3FAB59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79524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VI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fault Them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Default Theme" id="{9802066E-C85A-D042-BF27-A3F030F78975}" vid="{492FBF83-A45E-7C40-9D88-97444AE20E02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36CF0465-86C2-4D50-902E-DC5590629653}" vid="{479EA361-508B-4385-950A-6EB1D1DC90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163</TotalTime>
  <Words>79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Georgia</vt:lpstr>
      <vt:lpstr>Segoe UI</vt:lpstr>
      <vt:lpstr>Wingdings</vt:lpstr>
      <vt:lpstr>Default Theme</vt:lpstr>
      <vt:lpstr>Contrast</vt:lpstr>
      <vt:lpstr>think-cell Slide</vt:lpstr>
      <vt:lpstr>4 phase approach</vt:lpstr>
      <vt:lpstr>Phase I: Data request:</vt:lpstr>
      <vt:lpstr>Phase I: Typical activities and owners</vt:lpstr>
      <vt:lpstr>Phase I: deep-dive of each steps</vt:lpstr>
      <vt:lpstr>Phase I: Delvierables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Hayden Zheng</dc:creator>
  <cp:lastModifiedBy>Hayden Zheng</cp:lastModifiedBy>
  <cp:revision>1</cp:revision>
  <dcterms:created xsi:type="dcterms:W3CDTF">2026-05-24T04:29:04Z</dcterms:created>
  <dcterms:modified xsi:type="dcterms:W3CDTF">2026-05-24T07:13:00Z</dcterms:modified>
</cp:coreProperties>
</file>